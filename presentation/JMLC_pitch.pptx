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[0:00–0:15] Здравствуйте. Меня зовут Дмитрий Новичков. Я покажу проект,</a:t>
            </a:r>
          </a:p>
          <a:p>
            <a:r>
              <a:t>который по уличной панораме определяет тип городского участка. Это боль, с которой</a:t>
            </a:r>
          </a:p>
          <a:p>
            <a:r>
              <a:t>я сталкиваюсь в работе аналитика девелопера. Пять минут — поехали.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[0:15–0:50] Проблема простая и реальная. Аналитики вручную относят</a:t>
            </a:r>
          </a:p>
          <a:p>
            <a:r>
              <a:t>тысячи участков к типам застройки. Спутник тут бесполезен — он не видит дворы и</a:t>
            </a:r>
          </a:p>
          <a:p>
            <a:r>
              <a:t>фасады. Текстовое описание из кадастра тоже подводит: например, 1712 участков имеют</a:t>
            </a:r>
          </a:p>
          <a:p>
            <a:r>
              <a:t>одинаковую фразу «зелень во дворах», но по факту это разные классы. Различить их</a:t>
            </a:r>
          </a:p>
          <a:p>
            <a:r>
              <a:t>можно только по уличной панораме. Отсюда идея проекта.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[0:50–1:25] Решение: берём координаты участка из GeoPackage, находим</a:t>
            </a:r>
          </a:p>
          <a:p>
            <a:r>
              <a:t>уличную панораму, вырезаем кадр и предсказываем один из шести типов территории —</a:t>
            </a:r>
          </a:p>
          <a:p>
            <a:r>
              <a:t>от активной застройки до природных зон. Вокруг модели — веб-инструмент, где аналитик</a:t>
            </a:r>
          </a:p>
          <a:p>
            <a:r>
              <a:t>проверяет и правит результат. То есть это не просто модель, а рабочий продукт.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[1:25–2:05] Про данные — здесь была основная работа. Первое: почти</a:t>
            </a:r>
          </a:p>
          <a:p>
            <a:r>
              <a:t>треть кадров смотрели мимо участка, потому что панорама снята прямо в точке объекта.</a:t>
            </a:r>
          </a:p>
          <a:p>
            <a:r>
              <a:t>Починили, рендеря четыре направления. Второе и главное: сырые метки OSM совпадали с</a:t>
            </a:r>
          </a:p>
          <a:p>
            <a:r>
              <a:t>тем, что реально на кадре, лишь на 20%. Поэтому переразметили данные VLM-судьёй и</a:t>
            </a:r>
          </a:p>
          <a:p>
            <a:r>
              <a:t>вычитали руками. Плюс дедупликация и валидация без утечки сезонов. Именно качество</a:t>
            </a:r>
          </a:p>
          <a:p>
            <a:r>
              <a:t>меток, а не архитектура, дало основной прирост.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[2:05–2:45] Как это работает под капотом. По контуру участка находим</a:t>
            </a:r>
          </a:p>
          <a:p>
            <a:r>
              <a:t>точки панорам, вырезаем кадры в четырёх направлениях, прогоняем через замороженный</a:t>
            </a:r>
          </a:p>
          <a:p>
            <a:r>
              <a:t>CLIP и обучаем поверх него лёгкий линейный классификатор. Заморозка важна: данных</a:t>
            </a:r>
          </a:p>
          <a:p>
            <a:r>
              <a:t>немного, а так модель не переобучается. У участка обычно несколько ракурсов —</a:t>
            </a:r>
          </a:p>
          <a:p>
            <a:r>
              <a:t>финальный класс выбираем голосованием с весом по уверенности.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[2:45–3:30] Результаты. Продакшен-модель на честной валидации со</a:t>
            </a:r>
          </a:p>
          <a:p>
            <a:r>
              <a:t>сплитом по объектам: точность 76%, macro-F1 61%, а сбалансированный F1 — почти 74%.</a:t>
            </a:r>
          </a:p>
          <a:p>
            <a:r>
              <a:t>В валидации есть все шесть классов. Посмотрите на нижнюю ленту: мы начинали с</a:t>
            </a:r>
          </a:p>
          <a:p>
            <a:r>
              <a:t>zero-shot CLIP на уровне 20%, fine-tune на шумных метках упирался в 40%, а переход на</a:t>
            </a:r>
          </a:p>
          <a:p>
            <a:r>
              <a:t>VLM-метки поднял точность до 76%. То есть главный рычаг — качество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[3:30–4:00] Важно быть честным. Если сравнивать в лоб на всём GPKG,</a:t>
            </a:r>
          </a:p>
          <a:p>
            <a:r>
              <a:t>простая текстовая эвристика даёт 88% — выше нашей модели. Это нормально: в тексте</a:t>
            </a:r>
          </a:p>
          <a:p>
            <a:r>
              <a:t>кадастра уже зашиты подсказки. Ценность ML в другом — там, где текст одинаковый, как</a:t>
            </a:r>
          </a:p>
          <a:p>
            <a:r>
              <a:t>на «зелени во дворах», решает только картинка. Я явно документирую ограничения:</a:t>
            </a:r>
          </a:p>
          <a:p>
            <a:r>
              <a:t>сдвиг домена и маленькие выборки. ML — это дополнение к тексту на сложных случаях.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[4:00–4:30] Теперь продукт. Аналитик загружает GeoPackage, видит</a:t>
            </a:r>
          </a:p>
          <a:p>
            <a:r>
              <a:t>автоклассификацию по панораме, карту и все ракурсы, правит класс и выгружает</a:t>
            </a:r>
          </a:p>
          <a:p>
            <a:r>
              <a:t>результат обратно. Ключевое — правки не пропадают: это готовые gold-метки. Уже есть</a:t>
            </a:r>
          </a:p>
          <a:p>
            <a:r>
              <a:t>7535 скорректированных участков, которые возвращаются в дообучение. Получается</a:t>
            </a:r>
          </a:p>
          <a:p>
            <a:r>
              <a:t>замкнутый цикл: продукт улучшает 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[4:30–4:50] Инженерно всё сделано по-взрослому и воспроизводимо:</a:t>
            </a:r>
          </a:p>
          <a:p>
            <a:r>
              <a:t>конфигурация на Hydra, трекинг экспериментов в TensorBoard, W&amp;B и MLflow, стадии</a:t>
            </a:r>
          </a:p>
          <a:p>
            <a:r>
              <a:t>пайплайна в DVC, тесты и линтеры на pre-commit, Docker и CI на каждый коммит.</a:t>
            </a:r>
          </a:p>
          <a:p>
            <a:r>
              <a:t>Отдельно — автономный LangGraph-агент, который сам гоняет цикл «оцени — спланируй —</a:t>
            </a:r>
          </a:p>
          <a:p>
            <a:r>
              <a:t>обучи» до целевых метрик.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[4:50–5:00] Итог: это полный цикл от сбора данных до продукта и</a:t>
            </a:r>
          </a:p>
          <a:p>
            <a:r>
              <a:t>автономного агента, с честными метриками и понятной нишей применения. Спасибо!</a:t>
            </a:r>
          </a:p>
          <a:p>
            <a:r>
              <a:t>Готов ответить на вопросы. Демо поднимается одной командой.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0000" y="2400000"/>
            <a:ext cx="200000" cy="150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0000" y="2350000"/>
            <a:ext cx="10492000" cy="2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14A08F"/>
                </a:solidFill>
                <a:latin typeface="Calibri"/>
              </a:rPr>
              <a:t>JUNIOR ML CONTEST 2026 · AI TALENT HUB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Классификатор городских участков
по уличным панорамам</a:t>
            </a:r>
          </a:p>
          <a:p>
            <a:pPr>
              <a:spcBef>
                <a:spcPts val="1800"/>
              </a:spcBef>
            </a:pPr>
            <a:r>
              <a:rPr sz="2000">
                <a:solidFill>
                  <a:srgbClr val="C7D0DC"/>
                </a:solidFill>
                <a:latin typeface="Calibri"/>
              </a:rPr>
              <a:t>Дмитрий Новичков · ПИК AI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0000" y="560000"/>
            <a:ext cx="180000" cy="56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0000" y="360000"/>
            <a:ext cx="10492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A08F"/>
                </a:solidFill>
                <a:latin typeface="Calibri"/>
              </a:rPr>
              <a:t>ПРОБЛЕМА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Тысячи участков нужно оценивать вручную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10792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000" b="0">
                <a:solidFill>
                  <a:srgbClr val="1B2538"/>
                </a:solidFill>
                <a:latin typeface="Calibri"/>
              </a:rPr>
              <a:t>Аналитики руками просматривают тысячи участков Москвы: стройка, деградация, недоиспользование. Медленно и не масштабируется.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1B2538"/>
                </a:solidFill>
                <a:latin typeface="Calibri"/>
              </a:rPr>
              <a:t>Спутник не помогает — </a:t>
            </a:r>
            <a:r>
              <a:rPr sz="2000" b="1">
                <a:solidFill>
                  <a:srgbClr val="1B2538"/>
                </a:solidFill>
                <a:latin typeface="Calibri"/>
              </a:rPr>
              <a:t>не видит дворы и фасады.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1B2538"/>
                </a:solidFill>
                <a:latin typeface="Calibri"/>
              </a:rPr>
              <a:t>Текст в GPKG часто не различает класс: </a:t>
            </a:r>
            <a:r>
              <a:rPr sz="2000" b="1">
                <a:solidFill>
                  <a:srgbClr val="E87A22"/>
                </a:solidFill>
                <a:latin typeface="Calibri"/>
              </a:rPr>
              <a:t>1712 участков</a:t>
            </a:r>
            <a:r>
              <a:rPr sz="2000" b="0">
                <a:solidFill>
                  <a:srgbClr val="1B2538"/>
                </a:solidFill>
                <a:latin typeface="Calibri"/>
              </a:rPr>
              <a:t> с одной фразой «зелень во дворах» — а классы разные.</a:t>
            </a:r>
          </a:p>
          <a:p>
            <a:pPr>
              <a:spcAft>
                <a:spcPts val="1600"/>
              </a:spcAft>
            </a:pPr>
            <a:r>
              <a:rPr sz="2000" b="1">
                <a:solidFill>
                  <a:srgbClr val="14A08F"/>
                </a:solidFill>
                <a:latin typeface="Calibri"/>
              </a:rPr>
              <a:t>Отличить их можно только по виду с улицы.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000" y="6358000"/>
            <a:ext cx="7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672"/>
                </a:solidFill>
                <a:latin typeface="Calibri"/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0000" y="560000"/>
            <a:ext cx="180000" cy="56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0000" y="360000"/>
            <a:ext cx="10492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A08F"/>
                </a:solidFill>
                <a:latin typeface="Calibri"/>
              </a:rPr>
              <a:t>РЕШЕНИЕ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Панорама участка → тип территории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75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B2538"/>
                </a:solidFill>
                <a:latin typeface="Calibri"/>
              </a:rPr>
              <a:t>GeoPackage → панорамы Яндекса → CLIP-классификатор → </a:t>
            </a:r>
            <a:r>
              <a:rPr sz="1900" b="1">
                <a:solidFill>
                  <a:srgbClr val="14A08F"/>
                </a:solidFill>
                <a:latin typeface="Calibri"/>
              </a:rPr>
              <a:t>6 классов UTT</a:t>
            </a:r>
            <a:r>
              <a:rPr sz="1900" b="0">
                <a:solidFill>
                  <a:srgbClr val="1B2538"/>
                </a:solidFill>
                <a:latin typeface="Calibri"/>
              </a:rPr>
              <a:t> + веб-инструмент для правок.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2700000"/>
            <a:ext cx="3464000" cy="12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00000" y="2700000"/>
            <a:ext cx="120000" cy="125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0000" y="2880000"/>
            <a:ext cx="3084000" cy="8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E3D"/>
                </a:solidFill>
                <a:latin typeface="Calibri"/>
              </a:rPr>
              <a:t>active_urban</a:t>
            </a:r>
          </a:p>
          <a:p>
            <a:r>
              <a:rPr sz="1300">
                <a:solidFill>
                  <a:srgbClr val="5B6672"/>
                </a:solidFill>
                <a:latin typeface="Calibri"/>
              </a:rPr>
              <a:t>сформированная застройка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4000" y="2700000"/>
            <a:ext cx="3464000" cy="12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64000" y="2700000"/>
            <a:ext cx="120000" cy="125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4000" y="2880000"/>
            <a:ext cx="3084000" cy="8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E3D"/>
                </a:solidFill>
                <a:latin typeface="Calibri"/>
              </a:rPr>
              <a:t>active_construction</a:t>
            </a:r>
          </a:p>
          <a:p>
            <a:r>
              <a:rPr sz="1300">
                <a:solidFill>
                  <a:srgbClr val="5B6672"/>
                </a:solidFill>
                <a:latin typeface="Calibri"/>
              </a:rPr>
              <a:t>активная стройка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28000" y="2700000"/>
            <a:ext cx="3464000" cy="12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000" y="2700000"/>
            <a:ext cx="120000" cy="125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8000" y="2880000"/>
            <a:ext cx="3084000" cy="8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E3D"/>
                </a:solidFill>
                <a:latin typeface="Calibri"/>
              </a:rPr>
              <a:t>frozen_construction</a:t>
            </a:r>
          </a:p>
          <a:p>
            <a:r>
              <a:rPr sz="1300">
                <a:solidFill>
                  <a:srgbClr val="5B6672"/>
                </a:solidFill>
                <a:latin typeface="Calibri"/>
              </a:rPr>
              <a:t>замороженная стройка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0000" y="4200000"/>
            <a:ext cx="3464000" cy="12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0000" y="4200000"/>
            <a:ext cx="120000" cy="125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000" y="4380000"/>
            <a:ext cx="3084000" cy="8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E3D"/>
                </a:solidFill>
                <a:latin typeface="Calibri"/>
              </a:rPr>
              <a:t>low_density_degraded</a:t>
            </a:r>
          </a:p>
          <a:p>
            <a:r>
              <a:rPr sz="1300">
                <a:solidFill>
                  <a:srgbClr val="5B6672"/>
                </a:solidFill>
                <a:latin typeface="Calibri"/>
              </a:rPr>
              <a:t>малоэтажная / деградирующая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64000" y="4200000"/>
            <a:ext cx="3464000" cy="12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64000" y="4200000"/>
            <a:ext cx="120000" cy="125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04000" y="4380000"/>
            <a:ext cx="3084000" cy="8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E3D"/>
                </a:solidFill>
                <a:latin typeface="Calibri"/>
              </a:rPr>
              <a:t>underused_infrastructure</a:t>
            </a:r>
          </a:p>
          <a:p>
            <a:r>
              <a:rPr sz="1300">
                <a:solidFill>
                  <a:srgbClr val="5B6672"/>
                </a:solidFill>
                <a:latin typeface="Calibri"/>
              </a:rPr>
              <a:t>недоиспользуемая инфра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000" y="4200000"/>
            <a:ext cx="3464000" cy="12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000" y="4200000"/>
            <a:ext cx="120000" cy="125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68000" y="4380000"/>
            <a:ext cx="3084000" cy="8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E3D"/>
                </a:solidFill>
                <a:latin typeface="Calibri"/>
              </a:rPr>
              <a:t>natural_areas</a:t>
            </a:r>
          </a:p>
          <a:p>
            <a:r>
              <a:rPr sz="1300">
                <a:solidFill>
                  <a:srgbClr val="5B6672"/>
                </a:solidFill>
                <a:latin typeface="Calibri"/>
              </a:rPr>
              <a:t>природные территории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000" y="6358000"/>
            <a:ext cx="7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672"/>
                </a:solidFill>
                <a:latin typeface="Calibri"/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0000" y="560000"/>
            <a:ext cx="180000" cy="56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0000" y="360000"/>
            <a:ext cx="10492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A08F"/>
                </a:solidFill>
                <a:latin typeface="Calibri"/>
              </a:rPr>
              <a:t>ДАННЫЕ И EDA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Главный рычаг качества — чистота меток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850000"/>
            <a:ext cx="6259360" cy="4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87A22"/>
                </a:solidFill>
                <a:latin typeface="Calibri"/>
              </a:rPr>
              <a:t>29% кропов</a:t>
            </a:r>
            <a:r>
              <a:rPr sz="1800" b="0">
                <a:solidFill>
                  <a:srgbClr val="1B2538"/>
                </a:solidFill>
                <a:latin typeface="Calibri"/>
              </a:rPr>
              <a:t> смотрели «мимо» участка (bearing≈0) — чиним мульти-азимутом 0/90/180/270.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B2538"/>
                </a:solidFill>
                <a:latin typeface="Calibri"/>
              </a:rPr>
              <a:t>Согласие OSM-меток с содержимым кадра — </a:t>
            </a:r>
            <a:r>
              <a:rPr sz="1800" b="1">
                <a:solidFill>
                  <a:srgbClr val="E87A22"/>
                </a:solidFill>
                <a:latin typeface="Calibri"/>
              </a:rPr>
              <a:t>~20%</a:t>
            </a:r>
            <a:r>
              <a:rPr sz="1800" b="0">
                <a:solidFill>
                  <a:srgbClr val="1B2538"/>
                </a:solidFill>
                <a:latin typeface="Calibri"/>
              </a:rPr>
              <a:t>. Переразметили VLM-судьёй (Qwen) + ручная вычитка.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B2538"/>
                </a:solidFill>
                <a:latin typeface="Calibri"/>
              </a:rPr>
              <a:t>Чистка: дубли, размытые, нерелевантные ракурсы (perceptual hash + CLIP).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B2538"/>
                </a:solidFill>
                <a:latin typeface="Calibri"/>
              </a:rPr>
              <a:t>Сплит по </a:t>
            </a:r>
            <a:r>
              <a:rPr sz="1800" b="1">
                <a:solidFill>
                  <a:srgbClr val="1B2538"/>
                </a:solidFill>
                <a:latin typeface="Calibri"/>
              </a:rPr>
              <a:t>object_id</a:t>
            </a:r>
            <a:r>
              <a:rPr sz="1800" b="0">
                <a:solidFill>
                  <a:srgbClr val="1B2538"/>
                </a:solidFill>
                <a:latin typeface="Calibri"/>
              </a:rPr>
              <a:t> — без утечки сезонов между train и val.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91040" y="1850000"/>
            <a:ext cx="4100960" cy="10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51040" y="1970000"/>
            <a:ext cx="3700960" cy="7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E87A22"/>
                </a:solidFill>
                <a:latin typeface="Calibri"/>
              </a:rPr>
              <a:t>7535</a:t>
            </a:r>
          </a:p>
          <a:p>
            <a:r>
              <a:rPr sz="1200">
                <a:solidFill>
                  <a:srgbClr val="FFFFFF"/>
                </a:solidFill>
                <a:latin typeface="Calibri"/>
              </a:rPr>
              <a:t>участков GPKG
(валидация продукта)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91040" y="3000000"/>
            <a:ext cx="4100960" cy="10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1040" y="3120000"/>
            <a:ext cx="3700960" cy="7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E87A22"/>
                </a:solidFill>
                <a:latin typeface="Calibri"/>
              </a:rPr>
              <a:t>~600</a:t>
            </a:r>
          </a:p>
          <a:p>
            <a:r>
              <a:rPr sz="1200">
                <a:solidFill>
                  <a:srgbClr val="FFFFFF"/>
                </a:solidFill>
                <a:latin typeface="Calibri"/>
              </a:rPr>
              <a:t>объектов собрано
по 6 классам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91040" y="4150000"/>
            <a:ext cx="4100960" cy="10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1040" y="4270000"/>
            <a:ext cx="3700960" cy="7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E87A22"/>
                </a:solidFill>
                <a:latin typeface="Calibri"/>
              </a:rPr>
              <a:t>~2.4k</a:t>
            </a:r>
          </a:p>
          <a:p>
            <a:r>
              <a:rPr sz="1200">
                <a:solidFill>
                  <a:srgbClr val="FFFFFF"/>
                </a:solidFill>
                <a:latin typeface="Calibri"/>
              </a:rPr>
              <a:t>кропов после
мульти-хединга и чистки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000" y="6358000"/>
            <a:ext cx="7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672"/>
                </a:solidFill>
                <a:latin typeface="Calibri"/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0000" y="560000"/>
            <a:ext cx="180000" cy="56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0000" y="360000"/>
            <a:ext cx="10492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A08F"/>
                </a:solidFill>
                <a:latin typeface="Calibri"/>
              </a:rPr>
              <a:t>КАК РАБОТАЕТ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Замороженный CLIP + линейный пробинг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2550000"/>
            <a:ext cx="1673666" cy="13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0000" y="2550000"/>
            <a:ext cx="1513666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Контур участка
(GeoPackage)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3666" y="3030000"/>
            <a:ext cx="220000" cy="3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E87A22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2523666" y="2550000"/>
            <a:ext cx="1673666" cy="13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03666" y="2550000"/>
            <a:ext cx="1513666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Точки панорам
URL / грани полигона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57332" y="3030000"/>
            <a:ext cx="220000" cy="3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E87A22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7332" y="2550000"/>
            <a:ext cx="1673666" cy="13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27332" y="2550000"/>
            <a:ext cx="1513666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Кроп 896×672
4 азимута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0998" y="3030000"/>
            <a:ext cx="220000" cy="3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E87A22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0998" y="2550000"/>
            <a:ext cx="1673666" cy="130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0998" y="2550000"/>
            <a:ext cx="1513666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CLIP ViT-L-14
(заморожен)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04664" y="3030000"/>
            <a:ext cx="220000" cy="3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E87A22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4664" y="2550000"/>
            <a:ext cx="1673666" cy="130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74664" y="2550000"/>
            <a:ext cx="1513666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Linear probe
6 классов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28330" y="3030000"/>
            <a:ext cx="220000" cy="3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E87A22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18330" y="2550000"/>
            <a:ext cx="1673666" cy="13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98330" y="2550000"/>
            <a:ext cx="1513666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Голосование
по ракурсам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000" y="4400000"/>
            <a:ext cx="10792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672"/>
                </a:solidFill>
                <a:latin typeface="Calibri"/>
              </a:rPr>
              <a:t>Пробинг поверх замороженного CLIP устойчив к переобучению на малых данных; у участка несколько ракурсов — класс выбирается взвешенным голосованием по уверенности.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000" y="6358000"/>
            <a:ext cx="7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672"/>
                </a:solidFill>
                <a:latin typeface="Calibri"/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0000" y="560000"/>
            <a:ext cx="180000" cy="56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0000" y="360000"/>
            <a:ext cx="10492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A08F"/>
                </a:solidFill>
                <a:latin typeface="Calibri"/>
              </a:rPr>
              <a:t>РЕЗУЛЬТАТЫ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Продакшен-модель на честной валидации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1850000"/>
            <a:ext cx="3464000" cy="13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1850000"/>
            <a:ext cx="3464000" cy="13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14A08F"/>
                </a:solidFill>
                <a:latin typeface="Calibri"/>
              </a:rPr>
              <a:t>76.2%</a:t>
            </a:r>
          </a:p>
          <a:p>
            <a:pPr algn="ctr"/>
            <a:r>
              <a:rPr sz="1500">
                <a:solidFill>
                  <a:srgbClr val="5B6672"/>
                </a:solidFill>
                <a:latin typeface="Calibri"/>
              </a:rPr>
              <a:t>Accuracy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4000" y="1850000"/>
            <a:ext cx="3464000" cy="13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4000" y="1850000"/>
            <a:ext cx="3464000" cy="13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14A08F"/>
                </a:solidFill>
                <a:latin typeface="Calibri"/>
              </a:rPr>
              <a:t>61.0%</a:t>
            </a:r>
          </a:p>
          <a:p>
            <a:pPr algn="ctr"/>
            <a:r>
              <a:rPr sz="1500">
                <a:solidFill>
                  <a:srgbClr val="5B6672"/>
                </a:solidFill>
                <a:latin typeface="Calibri"/>
              </a:rPr>
              <a:t>macro-F1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28000" y="1850000"/>
            <a:ext cx="3464000" cy="13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8000" y="1850000"/>
            <a:ext cx="3464000" cy="13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14A08F"/>
                </a:solidFill>
                <a:latin typeface="Calibri"/>
              </a:rPr>
              <a:t>73.8%</a:t>
            </a:r>
          </a:p>
          <a:p>
            <a:pPr algn="ctr"/>
            <a:r>
              <a:rPr sz="1500">
                <a:solidFill>
                  <a:srgbClr val="5B6672"/>
                </a:solidFill>
                <a:latin typeface="Calibri"/>
              </a:rPr>
              <a:t>balanced 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000" y="345000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672"/>
                </a:solidFill>
                <a:latin typeface="Calibri"/>
              </a:rPr>
              <a:t>CLIP ViT-L-14 probe · n_val = 239 · сплит по object_id · все 6 классов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0000" y="4050000"/>
            <a:ext cx="10792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E3D"/>
                </a:solidFill>
                <a:latin typeface="Calibri"/>
              </a:rPr>
              <a:t>Путь к результату (рычаг — метки, не архитектура):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4600000"/>
            <a:ext cx="2094400" cy="72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0000"/>
            <a:ext cx="19744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zero-shot 0.20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74400" y="4600000"/>
            <a:ext cx="2094400" cy="72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4400" y="4600000"/>
            <a:ext cx="19744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fine-tune 0.40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48800" y="4600000"/>
            <a:ext cx="2094400" cy="72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08800" y="4600000"/>
            <a:ext cx="19744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OSM-probe 0.27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200" y="4600000"/>
            <a:ext cx="2094400" cy="72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83200" y="4600000"/>
            <a:ext cx="19744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VLM-probe 0.76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600" y="4600000"/>
            <a:ext cx="2094400" cy="72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57600" y="4600000"/>
            <a:ext cx="19744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3 класса 0.82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000" y="6358000"/>
            <a:ext cx="7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672"/>
                </a:solidFill>
                <a:latin typeface="Calibri"/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0000" y="560000"/>
            <a:ext cx="180000" cy="56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0000" y="360000"/>
            <a:ext cx="10492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A08F"/>
                </a:solidFill>
                <a:latin typeface="Calibri"/>
              </a:rPr>
              <a:t>ЧЕСТНО ОБ ОГРАНИЧЕНИЯХ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Где ML сильнее текста, а где — нет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10792000" cy="3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1900" b="0">
                <a:solidFill>
                  <a:srgbClr val="1B2538"/>
                </a:solidFill>
                <a:latin typeface="Calibri"/>
              </a:rPr>
              <a:t>На всём GPKG текстовая эвристика даёт </a:t>
            </a:r>
            <a:r>
              <a:rPr sz="1900" b="1">
                <a:solidFill>
                  <a:srgbClr val="E87A22"/>
                </a:solidFill>
                <a:latin typeface="Calibri"/>
              </a:rPr>
              <a:t>87.6%</a:t>
            </a:r>
            <a:r>
              <a:rPr sz="1900" b="0">
                <a:solidFill>
                  <a:srgbClr val="1B2538"/>
                </a:solidFill>
                <a:latin typeface="Calibri"/>
              </a:rPr>
              <a:t> — выше ML. И это ожидаемо: текст кадастра уже содержит сильные подсказки.</a:t>
            </a:r>
          </a:p>
          <a:p>
            <a:pPr>
              <a:spcAft>
                <a:spcPts val="1600"/>
              </a:spcAft>
            </a:pPr>
            <a:r>
              <a:rPr sz="1900" b="1">
                <a:solidFill>
                  <a:srgbClr val="14A08F"/>
                </a:solidFill>
                <a:latin typeface="Calibri"/>
              </a:rPr>
              <a:t>Но на кластере «зелень во дворах» текст бессилен — там класс различает только панорама. Это и есть ниша ML.</a:t>
            </a:r>
          </a:p>
          <a:p>
            <a:pPr>
              <a:spcAft>
                <a:spcPts val="1600"/>
              </a:spcAft>
            </a:pPr>
            <a:r>
              <a:rPr sz="1900" b="0">
                <a:solidFill>
                  <a:srgbClr val="1B2538"/>
                </a:solidFill>
                <a:latin typeface="Calibri"/>
              </a:rPr>
              <a:t>Ограничения честно задокументированы: domain shift (обучение на research-домене), малые выборки с панорамой (25–75 объектов).</a:t>
            </a:r>
          </a:p>
          <a:p>
            <a:pPr>
              <a:spcAft>
                <a:spcPts val="1600"/>
              </a:spcAft>
            </a:pPr>
            <a:r>
              <a:rPr sz="1900" b="1">
                <a:solidFill>
                  <a:srgbClr val="1B2538"/>
                </a:solidFill>
                <a:latin typeface="Calibri"/>
              </a:rPr>
              <a:t>Вывод: ML — дополнение к тексту на трудных кластерах, а не замена эвристики.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000" y="6358000"/>
            <a:ext cx="7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672"/>
                </a:solidFill>
                <a:latin typeface="Calibri"/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0000" y="560000"/>
            <a:ext cx="180000" cy="56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0000" y="360000"/>
            <a:ext cx="10492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A08F"/>
                </a:solidFill>
                <a:latin typeface="Calibri"/>
              </a:rPr>
              <a:t>ПРОДУКТ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Веб-инструмент аналитика с обратной связью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1900000"/>
            <a:ext cx="560000" cy="60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1900000"/>
            <a:ext cx="56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0000" y="1900000"/>
            <a:ext cx="59356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B2538"/>
                </a:solidFill>
                <a:latin typeface="Calibri"/>
              </a:rPr>
              <a:t>Загрузка GPKG</a:t>
            </a:r>
          </a:p>
        </p:txBody>
      </p:sp>
      <p:sp>
        <p:nvSpPr>
          <p:cNvPr id="9" name="Rectangle 8"/>
          <p:cNvSpPr/>
          <p:nvPr/>
        </p:nvSpPr>
        <p:spPr>
          <a:xfrm>
            <a:off x="700000" y="2660000"/>
            <a:ext cx="560000" cy="60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000" y="2660000"/>
            <a:ext cx="56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0000" y="2660000"/>
            <a:ext cx="59356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B2538"/>
                </a:solidFill>
                <a:latin typeface="Calibri"/>
              </a:rPr>
              <a:t>Автокласс по панораме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0000" y="3420000"/>
            <a:ext cx="560000" cy="60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0000" y="3420000"/>
            <a:ext cx="56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0000" y="3420000"/>
            <a:ext cx="59356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B2538"/>
                </a:solidFill>
                <a:latin typeface="Calibri"/>
              </a:rPr>
              <a:t>Карта + галерея ракурсов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0000" y="4180000"/>
            <a:ext cx="560000" cy="60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000" y="4180000"/>
            <a:ext cx="56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0000" y="4180000"/>
            <a:ext cx="59356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B2538"/>
                </a:solidFill>
                <a:latin typeface="Calibri"/>
              </a:rPr>
              <a:t>Правка аналитиком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0000" y="4940000"/>
            <a:ext cx="560000" cy="60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000" y="4940000"/>
            <a:ext cx="56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0000" y="4940000"/>
            <a:ext cx="59356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B2538"/>
                </a:solidFill>
                <a:latin typeface="Calibri"/>
              </a:rPr>
              <a:t>Экспорт GPKG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6880" y="1900000"/>
            <a:ext cx="3885120" cy="34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86880" y="2150000"/>
            <a:ext cx="3385120" cy="3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E87A22"/>
                </a:solidFill>
                <a:latin typeface="Calibri"/>
              </a:rPr>
              <a:t>ПЕТЛЯ ОБРАТНОЙ СВЯЗИ</a:t>
            </a:r>
            <a:r>
              <a:rPr sz="1600" b="0">
                <a:solidFill>
                  <a:srgbClr val="FFFFFF"/>
                </a:solidFill>
                <a:latin typeface="Calibri"/>
              </a:rPr>
              <a:t>Правки аналитиков = gold-метки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E87A22"/>
                </a:solidFill>
                <a:latin typeface="Calibri"/>
              </a:rPr>
              <a:t>7535 участков</a:t>
            </a:r>
            <a:r>
              <a:rPr sz="1600" b="0">
                <a:solidFill>
                  <a:srgbClr val="FFFFFF"/>
                </a:solidFill>
                <a:latin typeface="Calibri"/>
              </a:rPr>
              <a:t> с корректировками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→ дообучение модели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C7D0DC"/>
                </a:solidFill>
                <a:latin typeface="Calibri"/>
              </a:rPr>
              <a:t>Flask + Leaflet, экспорт в GeoPackage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92000" y="6358000"/>
            <a:ext cx="7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672"/>
                </a:solidFill>
                <a:latin typeface="Calibri"/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00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0000" y="560000"/>
            <a:ext cx="180000" cy="56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0000" y="360000"/>
            <a:ext cx="10492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A08F"/>
                </a:solidFill>
                <a:latin typeface="Calibri"/>
              </a:rPr>
              <a:t>ИНЖЕНЕРИЯ И MLOPS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Воспроизводимо и по-взрослому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1900000"/>
            <a:ext cx="3464000" cy="13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0000" y="1900000"/>
            <a:ext cx="3464000" cy="14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0000" y="2160000"/>
            <a:ext cx="3064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E3D"/>
                </a:solidFill>
                <a:latin typeface="Calibri"/>
              </a:rPr>
              <a:t>Стек</a:t>
            </a:r>
          </a:p>
          <a:p>
            <a:r>
              <a:rPr sz="1300">
                <a:solidFill>
                  <a:srgbClr val="5B6672"/>
                </a:solidFill>
                <a:latin typeface="Calibri"/>
              </a:rPr>
              <a:t>Python · PyTorch · OpenCLIP
Flask · GeoPandas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4000" y="1900000"/>
            <a:ext cx="3464000" cy="13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64000" y="1900000"/>
            <a:ext cx="3464000" cy="14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4000" y="2160000"/>
            <a:ext cx="3064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E3D"/>
                </a:solidFill>
                <a:latin typeface="Calibri"/>
              </a:rPr>
              <a:t>Конфиги и трекинг</a:t>
            </a:r>
          </a:p>
          <a:p>
            <a:r>
              <a:rPr sz="1300">
                <a:solidFill>
                  <a:srgbClr val="5B6672"/>
                </a:solidFill>
                <a:latin typeface="Calibri"/>
              </a:rPr>
              <a:t>Hydra · TensorBoard
W&amp;B · MLflow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8000" y="1900000"/>
            <a:ext cx="3464000" cy="13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28000" y="1900000"/>
            <a:ext cx="3464000" cy="14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0" y="2160000"/>
            <a:ext cx="3064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E3D"/>
                </a:solidFill>
                <a:latin typeface="Calibri"/>
              </a:rPr>
              <a:t>Пайплайн</a:t>
            </a:r>
          </a:p>
          <a:p>
            <a:r>
              <a:rPr sz="1300">
                <a:solidFill>
                  <a:srgbClr val="5B6672"/>
                </a:solidFill>
                <a:latin typeface="Calibri"/>
              </a:rPr>
              <a:t>DVC · Makefile
7 модульных шагов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0000" y="3500000"/>
            <a:ext cx="3464000" cy="13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0000" y="3500000"/>
            <a:ext cx="3464000" cy="14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0000" y="3760000"/>
            <a:ext cx="3064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E3D"/>
                </a:solidFill>
                <a:latin typeface="Calibri"/>
              </a:rPr>
              <a:t>Качество</a:t>
            </a:r>
          </a:p>
          <a:p>
            <a:r>
              <a:rPr sz="1300">
                <a:solidFill>
                  <a:srgbClr val="5B6672"/>
                </a:solidFill>
                <a:latin typeface="Calibri"/>
              </a:rPr>
              <a:t>pytest · ruff · black
pre-commit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64000" y="3500000"/>
            <a:ext cx="3464000" cy="13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4000" y="3500000"/>
            <a:ext cx="3464000" cy="140000"/>
          </a:xfrm>
          <a:prstGeom prst="rect">
            <a:avLst/>
          </a:prstGeom>
          <a:solidFill>
            <a:srgbClr val="14A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4000" y="3760000"/>
            <a:ext cx="3064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E3D"/>
                </a:solidFill>
                <a:latin typeface="Calibri"/>
              </a:rPr>
              <a:t>Доставка</a:t>
            </a:r>
          </a:p>
          <a:p>
            <a:r>
              <a:rPr sz="1300">
                <a:solidFill>
                  <a:srgbClr val="5B6672"/>
                </a:solidFill>
                <a:latin typeface="Calibri"/>
              </a:rPr>
              <a:t>Docker · GitHub Actions CI
demo-данные для CI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28000" y="3500000"/>
            <a:ext cx="3464000" cy="1350000"/>
          </a:xfrm>
          <a:prstGeom prst="rect">
            <a:avLst/>
          </a:prstGeom>
          <a:solidFill>
            <a:srgbClr val="F3F5F7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28000" y="3500000"/>
            <a:ext cx="3464000" cy="14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8000" y="3760000"/>
            <a:ext cx="3064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E3D"/>
                </a:solidFill>
                <a:latin typeface="Calibri"/>
              </a:rPr>
              <a:t>AI-агент</a:t>
            </a:r>
          </a:p>
          <a:p>
            <a:r>
              <a:rPr sz="1300">
                <a:solidFill>
                  <a:srgbClr val="5B6672"/>
                </a:solidFill>
                <a:latin typeface="Calibri"/>
              </a:rPr>
              <a:t>LangGraph: evaluate →
plan → act до цели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000" y="6358000"/>
            <a:ext cx="7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672"/>
                </a:solidFill>
                <a:latin typeface="Calibri"/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0000" y="1700000"/>
            <a:ext cx="200000" cy="1600000"/>
          </a:xfrm>
          <a:prstGeom prst="rect">
            <a:avLst/>
          </a:prstGeom>
          <a:solidFill>
            <a:srgbClr val="E8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0000" y="1650000"/>
            <a:ext cx="10492000" cy="2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>
                <a:solidFill>
                  <a:srgbClr val="14A08F"/>
                </a:solidFill>
                <a:latin typeface="Calibri"/>
              </a:rPr>
              <a:t>ИТОГ</a:t>
            </a:r>
            <a:r>
              <a:rPr sz="1900" b="0">
                <a:solidFill>
                  <a:srgbClr val="FFFFFF"/>
                </a:solidFill>
                <a:latin typeface="Calibri"/>
              </a:rPr>
              <a:t>Полный цикл: данные → EDA → CLIP-probe → веб-пилот → AI-агент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Calibri"/>
              </a:rPr>
              <a:t>76.2% на честной валидации; ниша — где текст не различает класс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Calibri"/>
              </a:rPr>
              <a:t>Работающий продукт с петлёй обратной связи для аналитиков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4900000"/>
            <a:ext cx="10792000" cy="2"/>
          </a:xfrm>
          <a:prstGeom prst="rect">
            <a:avLst/>
          </a:prstGeom>
          <a:noFill/>
          <a:ln w="12700">
            <a:solidFill>
              <a:srgbClr val="14A0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5150000"/>
            <a:ext cx="10792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Дмитрий Новичков   </a:t>
            </a:r>
            <a:r>
              <a:rPr sz="1600" b="0">
                <a:solidFill>
                  <a:srgbClr val="C7D0DC"/>
                </a:solidFill>
                <a:latin typeface="Calibri"/>
              </a:rPr>
              <a:t>novichkovde@pik.ru · github.com/mfclabber/aith_junior_ml_contest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575000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A08F"/>
                </a:solidFill>
                <a:latin typeface="Calibri"/>
              </a:rPr>
              <a:t>Демо: make demo  ·  Спасибо! Готов к вопросам.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